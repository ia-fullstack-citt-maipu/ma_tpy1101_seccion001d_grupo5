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7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026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E18A2-6082-78AA-0E98-FEB3F03DB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3B567-EC94-DD67-29D1-5C53F8AFF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54FC2E-0D39-0D82-C39D-F25815F699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5D453-1845-D915-A137-72FB6BF415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122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3640" y="1051560"/>
            <a:ext cx="4389120" cy="416052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6629400" y="14173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DuocUC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001000" y="1408176"/>
            <a:ext cx="1051560" cy="329184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6629400" y="2148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Experiencia 2 / Avance del Proyecto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629400" y="256032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Sistema de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Gestión de Pañol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6629400" y="3639312"/>
            <a:ext cx="3200400" cy="0"/>
          </a:xfrm>
          <a:prstGeom prst="line">
            <a:avLst/>
          </a:prstGeom>
          <a:noFill/>
          <a:ln w="12700">
            <a:solidFill>
              <a:srgbClr val="BFD4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6629400" y="3977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Equipo: Integrantes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Asignatura / Docente / Fecha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Contexto de la Experiencia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Propósito de esta etapa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62456"/>
            <a:ext cx="4480560" cy="0"/>
          </a:xfrm>
          <a:prstGeom prst="line">
            <a:avLst/>
          </a:prstGeom>
          <a:noFill/>
          <a:ln w="1524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16636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Implementar el desarrollo planificado durante la etapa anterior.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Generar evidencias técnicas y funcionales del avance.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Construir una primera versión funcional del producto.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Validar que el proyecto avanza según RA2 e indicadores de logro.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484632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109728" cy="114300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749808" y="4059936"/>
            <a:ext cx="4535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Enfoque del avance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9808" y="4434840"/>
            <a:ext cx="453542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Pasar del diseño a la construcción: documentación, ambiente de pruebas, control de versiones y funcionalidades base.</a:t>
            </a:r>
            <a:endParaRPr lang="en-US" sz="1050" dirty="0"/>
          </a:p>
        </p:txBody>
      </p:sp>
      <p:pic>
        <p:nvPicPr>
          <p:cNvPr id="13" name="Image 0" descr="/mnt/data/ppt_unzip/ppt/media/image1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43000"/>
            <a:ext cx="402336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Resultado de Aprendizaje RA2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80E9"/>
                </a:solidFill>
              </a:rPr>
              <a:t>RA2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53949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11111"/>
                </a:solidFill>
              </a:rPr>
              <a:t>Desarrolla una solución innovadora, basada en software, que vincula los intereses profesionales del estudiantado y resguarda aspectos éticos, de calidad y seguridad.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731520" y="3794760"/>
            <a:ext cx="109728" cy="12344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32688" y="392277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En simple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4297680"/>
            <a:ext cx="49011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El proyecto debe demostrar que no solo se diseña una idea, sino que se construye una solución útil, segura, ética y con calidad técnica.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11430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675120" y="1143000"/>
            <a:ext cx="109728" cy="86868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876288" y="12710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Innovación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76288" y="1645920"/>
            <a:ext cx="3986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Digitalización del pañol y trazabilidad operativa.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22860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675120" y="2286000"/>
            <a:ext cx="109728" cy="86868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876288" y="24140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Seguridad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6288" y="2788920"/>
            <a:ext cx="3986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Roles, permisos y protección de datos.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34290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6675120" y="3429000"/>
            <a:ext cx="109728" cy="868680"/>
          </a:xfrm>
          <a:prstGeom prst="rect">
            <a:avLst/>
          </a:prstGeom>
          <a:solidFill>
            <a:srgbClr val="F6A23A"/>
          </a:solidFill>
          <a:ln w="12700">
            <a:solidFill>
              <a:srgbClr val="F6A2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876288" y="35570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Calidad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76288" y="3931920"/>
            <a:ext cx="3986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Validaciones, pruebas y buenas prácticas.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Indicadores de Logro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09728" cy="338328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41248" y="145389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IL2.1 — Documentación y 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828800"/>
            <a:ext cx="307238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Elabora documentos para diseñar la solución: modelo de datos, reglas de negocio, mockups y arquitectura.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32588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109728" cy="338328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636008" y="145389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IL2.2 — Ambiente de prueba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1828800"/>
            <a:ext cx="307238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Genera un ambiente para ejecutar, probar y validar el producto: Docker, base de datos de prueba y variables de entorno.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32588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229600" y="1325880"/>
            <a:ext cx="109728" cy="3383280"/>
          </a:xfrm>
          <a:prstGeom prst="rect">
            <a:avLst/>
          </a:prstGeom>
          <a:solidFill>
            <a:srgbClr val="F6A23A"/>
          </a:solidFill>
          <a:ln w="12700">
            <a:solidFill>
              <a:srgbClr val="F6A2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430768" y="145389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IL2.3 — Desarrollo funcional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30768" y="1828800"/>
            <a:ext cx="307238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Desarrolla funcionalidades básicas seguras y de calidad: CRUD, gestión de usuarios y validaciones.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Objetivo de la solución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00584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</a:rPr>
              <a:t>Digitalizar la gestión de inventario, préstamos, usuarios y trazabilidad del pañol.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548640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Centralizar información de implementos y categorías.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Controlar préstamos, estados y devoluciones.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Gestionar usuarios y permisos por rol.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Mejorar trazabilidad y disponibilidad de información.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Reducir errores operativos mediante validaciones.</a:t>
            </a:r>
            <a:endParaRPr lang="en-US" sz="1250" dirty="0"/>
          </a:p>
        </p:txBody>
      </p:sp>
      <p:pic>
        <p:nvPicPr>
          <p:cNvPr id="8" name="Image 0" descr="/mnt/data/ppt_unzip/ppt/media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1143000"/>
            <a:ext cx="3291840" cy="32918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4709160"/>
            <a:ext cx="4480560" cy="777240"/>
          </a:xfrm>
          <a:prstGeom prst="roundRect">
            <a:avLst>
              <a:gd name="adj" fmla="val 9412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7"/>
          <p:cNvSpPr/>
          <p:nvPr/>
        </p:nvSpPr>
        <p:spPr>
          <a:xfrm>
            <a:off x="6675120" y="4709160"/>
            <a:ext cx="109728" cy="77724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8"/>
          <p:cNvSpPr/>
          <p:nvPr/>
        </p:nvSpPr>
        <p:spPr>
          <a:xfrm>
            <a:off x="6876288" y="4837176"/>
            <a:ext cx="4169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Resultado esperado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76288" y="5212080"/>
            <a:ext cx="41696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Una primera versión funcional que permita operar datos maestros y bases de la gestión de usuarios.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Modelo de datos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01752" y="5540822"/>
            <a:ext cx="74980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Entidades clave: usuarios, roles, implementos, categorías, stock, préstamos, detalle de préstamo e identificación individual para implementos no fungibles.</a:t>
            </a:r>
            <a:endParaRPr lang="en-US" sz="125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3B95A32F-DCF7-E2D2-31A2-CE2CAFCEB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85" y="760488"/>
            <a:ext cx="4095606" cy="4601805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486A59AD-6652-27CE-1BFE-282F2C0F6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9290" y="722817"/>
            <a:ext cx="6143590" cy="46394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Reglas de negocio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1430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731520" y="1143000"/>
            <a:ext cx="109728" cy="114300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932688" y="127101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Autorización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64592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Solo usuarios autorizados pueden gestionar préstamos.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114300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526280" y="1143000"/>
            <a:ext cx="109728" cy="114300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727448" y="127101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Stock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27448" y="164592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No se puede prestar un implemento sin stock disponible.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25603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731520" y="2560320"/>
            <a:ext cx="109728" cy="1143000"/>
          </a:xfrm>
          <a:prstGeom prst="rect">
            <a:avLst/>
          </a:prstGeom>
          <a:solidFill>
            <a:srgbClr val="F6A23A"/>
          </a:solidFill>
          <a:ln w="12700">
            <a:solidFill>
              <a:srgbClr val="F6A2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932688" y="268833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Estado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2688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Cada préstamo debe registrar su estado actual.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256032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526280" y="2560320"/>
            <a:ext cx="109728" cy="114300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727448" y="268833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Roles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27448" y="306324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Los roles definen permisos y acceso a vistas.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109728" cy="114300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932688" y="41056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Identificación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32688" y="448056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Los implementos no fungibles deben tener identificación individual.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26280" y="3977640"/>
            <a:ext cx="342900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526280" y="3977640"/>
            <a:ext cx="109728" cy="1143000"/>
          </a:xfrm>
          <a:prstGeom prst="rect">
            <a:avLst/>
          </a:prstGeom>
          <a:solidFill>
            <a:srgbClr val="F6A23A"/>
          </a:solidFill>
          <a:ln w="12700">
            <a:solidFill>
              <a:srgbClr val="F6A2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4727448" y="4105656"/>
            <a:ext cx="3118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Trazabilidad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27448" y="4480560"/>
            <a:ext cx="3118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Cada movimiento relevante debe quedar registrado.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Mockups o bosquejos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7596C4CD-09BB-3FC5-E31B-06BD1E13B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839886"/>
            <a:ext cx="6776723" cy="3159647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A778861-E764-D63C-D0E7-63ACC1FFD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487" y="2317776"/>
            <a:ext cx="5786417" cy="38911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Arquitectura de la solución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10149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La solución se organiza como frontend y backend separados, conectados a una base de datos y ejecutados en un ambiente reproducible para pruebas.</a:t>
            </a:r>
            <a:endParaRPr lang="en-US" sz="125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6AA6196-0DA8-FBE6-D1D0-37C70BA08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05840"/>
            <a:ext cx="4678123" cy="4204128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23F6698-CA86-408B-F039-7A6F6FE51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008" y="1005840"/>
            <a:ext cx="4309792" cy="41911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F2412-AD77-4EC7-376B-5E5AE94F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9BE184F-1193-BE3B-11A6-49208146205F}"/>
              </a:ext>
            </a:extLst>
          </p:cNvPr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0098981-4AF7-322A-AD8A-63E78748B402}"/>
              </a:ext>
            </a:extLst>
          </p:cNvPr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Arquitectura de la solución</a:t>
            </a:r>
            <a:endParaRPr lang="en-US" sz="2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E24B1E-B8FC-C0AA-F3A9-A43F83D1497F}"/>
              </a:ext>
            </a:extLst>
          </p:cNvPr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057AFF3-D213-9778-688B-A3B205D48A0B}"/>
              </a:ext>
            </a:extLst>
          </p:cNvPr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7FD9A8-FADE-6AFA-BD34-BC29080C58DE}"/>
              </a:ext>
            </a:extLst>
          </p:cNvPr>
          <p:cNvSpPr/>
          <p:nvPr/>
        </p:nvSpPr>
        <p:spPr>
          <a:xfrm>
            <a:off x="822960" y="5349240"/>
            <a:ext cx="101498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11111"/>
                </a:solidFill>
              </a:rPr>
              <a:t>La solución se organiza como frontend y backend separados, conectados a una base de datos y ejecutados en un ambiente reproducible para pruebas.</a:t>
            </a:r>
            <a:endParaRPr lang="en-US" sz="1250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79FC13B-FBCB-C370-7A59-015EF0F64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05839"/>
            <a:ext cx="4095458" cy="419111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C022E9B-F1DC-5221-42E9-BAAA0A42A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972" y="1005839"/>
            <a:ext cx="5507868" cy="419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9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Ambiente de pruebas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394960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50" dirty="0">
                <a:solidFill>
                  <a:srgbClr val="111111"/>
                </a:solidFill>
              </a:rPr>
              <a:t>Docker / Docker Compose para levantar servicios de forma local.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Base de datos de prueba separada de datos productivos.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Variables de entorno para credenciales y configuración.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Frontend y backend ejecutándose como servicios independientes.</a:t>
            </a:r>
            <a:endParaRPr lang="en-US" sz="1250" dirty="0"/>
          </a:p>
          <a:p>
            <a:r>
              <a:rPr lang="en-US" sz="1250" dirty="0">
                <a:solidFill>
                  <a:srgbClr val="111111"/>
                </a:solidFill>
              </a:rPr>
              <a:t>Datos de prueba para validar flujos básicos y roles.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92240" y="1005840"/>
            <a:ext cx="45720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9BA6B2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583680" y="1851660"/>
            <a:ext cx="4389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4A6"/>
                </a:solidFill>
              </a:rPr>
              <a:t>Agregar captura de Docker / terminal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4348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109728" cy="86868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95528" y="456285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Objetivo del ambiente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" y="4937760"/>
            <a:ext cx="49011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Permitir que cualquier integrante replique el sistema y valide funcionalidades sin depender de configuraciones manuales.</a:t>
            </a:r>
            <a:endParaRPr lang="en-US" sz="1050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00F92E5-5980-9AB0-0220-7278F84AAA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29423"/>
            <a:ext cx="4572000" cy="266308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222413DA-2340-115F-D419-6A46EB597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1583" y="3265900"/>
            <a:ext cx="2765298" cy="31070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Uso de GitHub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143000"/>
            <a:ext cx="109728" cy="10058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41248" y="127101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Repositorio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645920"/>
            <a:ext cx="27980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Código centralizado del proyecto.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109728" cy="100584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841248" y="259689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Ramas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971800"/>
            <a:ext cx="27980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Trabajo separado por funcionalidades o módulos.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109728" cy="1005840"/>
          </a:xfrm>
          <a:prstGeom prst="rect">
            <a:avLst/>
          </a:prstGeom>
          <a:solidFill>
            <a:srgbClr val="F6A23A"/>
          </a:solidFill>
          <a:ln w="12700">
            <a:solidFill>
              <a:srgbClr val="F6A2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41248" y="392277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Commits y PR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4297680"/>
            <a:ext cx="27980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Evidencia de avance, revisión y colaboración.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51960" y="114300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251960" y="1143000"/>
            <a:ext cx="109728" cy="10058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4453128" y="127101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11111"/>
                </a:solidFill>
              </a:rPr>
              <a:t>tablero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53128" y="1645920"/>
            <a:ext cx="27980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Seguimiento de tareas, bloqueos y sprint.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51960" y="246888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251960" y="2468880"/>
            <a:ext cx="109728" cy="100584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453128" y="2596896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Trabajo colaborativo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53128" y="2971800"/>
            <a:ext cx="27980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Registro de aportes y acuerdos técnicos.</a:t>
            </a:r>
            <a:endParaRPr lang="en-US" sz="105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29281C51-8B7C-6B6C-4534-5B0834428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186575"/>
            <a:ext cx="4073051" cy="204081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52F0FA3B-69C8-8049-CBEA-BD7709D0BA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2053" y="3794760"/>
            <a:ext cx="2188773" cy="2262346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C8F4E8BF-30EC-81E0-411F-004CED543A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1152" y="3864560"/>
            <a:ext cx="3890483" cy="21227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Funcionalidades desarrolladas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051560"/>
            <a:ext cx="109728" cy="114300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41248" y="117957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CRUD de datos maestros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" y="1554480"/>
            <a:ext cx="30266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Registro y mantenimiento inicial de información base del sistema.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0515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389120" y="1051560"/>
            <a:ext cx="109728" cy="114300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590288" y="117957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Gestión de usuarios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0288" y="1554480"/>
            <a:ext cx="30266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Crear usuario, modificar usuario, cambiar contraseña y recuperar clave.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051560"/>
            <a:ext cx="3337560" cy="1143000"/>
          </a:xfrm>
          <a:prstGeom prst="roundRect">
            <a:avLst>
              <a:gd name="adj" fmla="val 6400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138160" y="1051560"/>
            <a:ext cx="109728" cy="1143000"/>
          </a:xfrm>
          <a:prstGeom prst="rect">
            <a:avLst/>
          </a:prstGeom>
          <a:solidFill>
            <a:srgbClr val="F6A23A"/>
          </a:solidFill>
          <a:ln w="12700">
            <a:solidFill>
              <a:srgbClr val="F6A2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339328" y="1179576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Inventario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39328" y="1554480"/>
            <a:ext cx="302666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Registro de implementos y categorías para organizar el catálogo.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3817620"/>
            <a:ext cx="3108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4A6"/>
                </a:solidFill>
              </a:rPr>
              <a:t>Captura usuarios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3817620"/>
            <a:ext cx="31089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94A6"/>
                </a:solidFill>
              </a:rPr>
              <a:t>Captura inventario</a:t>
            </a:r>
            <a:endParaRPr lang="en-US" sz="14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ADCA726-8225-FA28-20FB-281760409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" y="2971800"/>
            <a:ext cx="4173583" cy="20574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FA86C8D0-CBB6-A475-8EDA-E689945FF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307" y="2971800"/>
            <a:ext cx="3841133" cy="2070429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9E28080C-66DC-0BB4-A044-924292087E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5068" y="2917112"/>
            <a:ext cx="3979208" cy="21120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Seguridad y calidad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Prácticas consideradas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271016"/>
            <a:ext cx="3840480" cy="0"/>
          </a:xfrm>
          <a:prstGeom prst="line">
            <a:avLst/>
          </a:prstGeom>
          <a:noFill/>
          <a:ln w="1524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5212080" cy="2743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 dirty="0">
                <a:solidFill>
                  <a:srgbClr val="111111"/>
                </a:solidFill>
              </a:rPr>
              <a:t>Roles y permisos para limitar acciones por perfil.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</a:rPr>
              <a:t>Validaciones de campos obligatorios y reglas críticas.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</a:rPr>
              <a:t>Control de acceso a vistas y endpoints.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</a:rPr>
              <a:t>Manejo de errores y respuestas claras.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</a:rPr>
              <a:t>Buenas prácticas de código y separación de responsabilidades.</a:t>
            </a:r>
            <a:endParaRPr lang="en-US" sz="1200" dirty="0"/>
          </a:p>
          <a:p>
            <a:r>
              <a:rPr lang="en-US" sz="1200" dirty="0">
                <a:solidFill>
                  <a:srgbClr val="111111"/>
                </a:solidFill>
              </a:rPr>
              <a:t>Protección de datos sensibles del usuario.</a:t>
            </a:r>
            <a:endParaRPr lang="en-US" sz="1200" dirty="0"/>
          </a:p>
        </p:txBody>
      </p:sp>
      <p:pic>
        <p:nvPicPr>
          <p:cNvPr id="9" name="Image 0" descr="/mnt/data/ppt_unzip/ppt/media/image23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97280"/>
            <a:ext cx="3108960" cy="30175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83680" y="457200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583680" y="4572000"/>
            <a:ext cx="109728" cy="86868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784848" y="4700016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Calidad esperada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84848" y="5074920"/>
            <a:ext cx="398678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El sistema debe funcionar correctamente, ser mantenible y resguardar la información utilizada por la Escuela de Salud.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Estado actual del producto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2344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109728" cy="3566160"/>
          </a:xfrm>
          <a:prstGeom prst="rect">
            <a:avLst/>
          </a:prstGeom>
          <a:solidFill>
            <a:srgbClr val="56C084"/>
          </a:solidFill>
          <a:ln w="12700">
            <a:solidFill>
              <a:srgbClr val="56C08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86968" y="136245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Listo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1737360"/>
            <a:ext cx="307238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Documentación base, modelo de datos, reglas de negocio, estructura inicial del sistema y flujo de autenticación.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2344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434840" y="1234440"/>
            <a:ext cx="109728" cy="3566160"/>
          </a:xfrm>
          <a:prstGeom prst="rect">
            <a:avLst/>
          </a:prstGeom>
          <a:solidFill>
            <a:srgbClr val="F6A23A"/>
          </a:solidFill>
          <a:ln w="12700">
            <a:solidFill>
              <a:srgbClr val="F6A2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636008" y="136245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En desarrollo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6008" y="1737360"/>
            <a:ext cx="307238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CRUD de inventario, gestión de usuarios, validaciones y primeras pantallas funcionales.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12344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6F8FC"/>
          </a:solidFill>
          <a:ln w="1016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183880" y="1234440"/>
            <a:ext cx="109728" cy="356616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385048" y="1362456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Pendiente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85048" y="1737360"/>
            <a:ext cx="3072384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11111"/>
                </a:solidFill>
              </a:rPr>
              <a:t>Flujo completo de préstamos, reportes, alertas, pruebas finales y ajustes de integración.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Evidencias presentadas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105156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143000" y="1033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Documentación actualizada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143000" y="15361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Modelo de datos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205740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143000" y="2039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Mockups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256032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1143000" y="2542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Reglas de negocio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00800" y="10332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Ambiente de pruebas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55448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400800" y="15361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GitHub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35040" y="205740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400800" y="20391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CRUD inicial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256032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400800" y="2542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111"/>
                </a:solidFill>
              </a:rPr>
              <a:t>Gestión de usuarios</a:t>
            </a:r>
            <a:endParaRPr lang="en-US" sz="13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AAB08F6A-882E-7E34-7E96-520EAF827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3498995"/>
            <a:ext cx="3565734" cy="232888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A2661A5-7963-93C2-24B9-4384E7689B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028" t="22370" r="12972" b="2881"/>
          <a:stretch>
            <a:fillRect/>
          </a:stretch>
        </p:blipFill>
        <p:spPr>
          <a:xfrm>
            <a:off x="3721182" y="3498995"/>
            <a:ext cx="4158731" cy="2328889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23DAA5EF-119A-94AB-F35F-3B30293620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87" t="22370" r="12972" b="2881"/>
          <a:stretch>
            <a:fillRect/>
          </a:stretch>
        </p:blipFill>
        <p:spPr>
          <a:xfrm>
            <a:off x="7879913" y="3498994"/>
            <a:ext cx="4160930" cy="23257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548640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301752" y="256032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11111"/>
                </a:solidFill>
              </a:rPr>
              <a:t>Próximos pasos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256032" y="6492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80B7E8"/>
                </a:solidFill>
              </a:rPr>
              <a:t>ESCUELA DE INFORMÁTICA Y TELECOMUNICACIONES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11292840" y="63825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</a:rPr>
              <a:t>DuocUC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BD4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</a:rPr>
              <a:t>1. Completar flujo de préstamos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EEF5FF"/>
          </a:solidFill>
          <a:ln w="12700">
            <a:solidFill>
              <a:srgbClr val="CBD4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4526280" y="1252728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</a:rPr>
              <a:t>2. Mejorar módulo de inventario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0" y="109728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FF7E8"/>
          </a:solidFill>
          <a:ln w="12700">
            <a:solidFill>
              <a:srgbClr val="CBD4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8275320" y="1252728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</a:rPr>
              <a:t>3. Agregar reportes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33172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3F5F8"/>
          </a:solidFill>
          <a:ln w="12700">
            <a:solidFill>
              <a:srgbClr val="CBD4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777240" y="2487168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</a:rPr>
              <a:t>4. Incorporar alertas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80560" y="233172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EEF5FF"/>
          </a:solidFill>
          <a:ln w="12700">
            <a:solidFill>
              <a:srgbClr val="CBD4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4526280" y="2487168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</a:rPr>
              <a:t>5. Aplicar validaciones finales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33172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FFF7E8"/>
          </a:solidFill>
          <a:ln w="12700">
            <a:solidFill>
              <a:srgbClr val="CBD4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8275320" y="2487168"/>
            <a:ext cx="30632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111"/>
                </a:solidFill>
              </a:rPr>
              <a:t>6. Ejecutar pruebas funcionales</a:t>
            </a:r>
            <a:endParaRPr lang="en-US" sz="1100" dirty="0"/>
          </a:p>
        </p:txBody>
      </p:sp>
      <p:pic>
        <p:nvPicPr>
          <p:cNvPr id="18" name="Image 0" descr="/mnt/data/ppt_unzip/ppt/media/image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4160520"/>
            <a:ext cx="5303520" cy="14630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43000" y="58064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11111"/>
                </a:solidFill>
              </a:rPr>
              <a:t>La siguiente etapa se enfocará en completar la operación principal del pañol y fortalecer la evidencia de pruebas.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pt_unzip/ppt/media/image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0" y="1965960"/>
            <a:ext cx="4114800" cy="2560320"/>
          </a:xfrm>
          <a:prstGeom prst="rect">
            <a:avLst/>
          </a:prstGeom>
          <a:solidFill>
            <a:srgbClr val="4A4A4A">
              <a:alpha val="84000"/>
            </a:srgbClr>
          </a:solidFill>
          <a:ln w="12700">
            <a:solidFill>
              <a:srgbClr val="4A4A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1"/>
          <p:cNvSpPr/>
          <p:nvPr/>
        </p:nvSpPr>
        <p:spPr>
          <a:xfrm>
            <a:off x="5989320" y="1737360"/>
            <a:ext cx="201168" cy="201168"/>
          </a:xfrm>
          <a:prstGeom prst="rect">
            <a:avLst/>
          </a:prstGeom>
          <a:solidFill>
            <a:srgbClr val="4F80E9"/>
          </a:solidFill>
          <a:ln w="12700">
            <a:solidFill>
              <a:srgbClr val="4F80E9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2"/>
          <p:cNvSpPr/>
          <p:nvPr/>
        </p:nvSpPr>
        <p:spPr>
          <a:xfrm>
            <a:off x="6537960" y="2331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FFFF"/>
                </a:solidFill>
              </a:rPr>
              <a:t>Cierre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37960" y="29260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El avance demuestra cumplimiento de RA2 e indicadores IL2.1, IL2.2 e IL2.3 mediante documentación, ambiente de pruebas y desarrollo funcional inicial.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37960" y="41148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¡Gracias!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984</Words>
  <Application>Microsoft Office PowerPoint</Application>
  <PresentationFormat>Panorámica</PresentationFormat>
  <Paragraphs>177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Pañol - Experiencia 2</dc:title>
  <dc:subject>Experiencia 2 / Avance del Proyecto - Sistema de Gestión de Pañol</dc:subject>
  <dc:creator>OpenAI</dc:creator>
  <cp:lastModifiedBy>Lucas Moncada Espinoza</cp:lastModifiedBy>
  <cp:revision>2</cp:revision>
  <dcterms:created xsi:type="dcterms:W3CDTF">2026-05-11T17:04:13Z</dcterms:created>
  <dcterms:modified xsi:type="dcterms:W3CDTF">2026-05-11T17:34:32Z</dcterms:modified>
</cp:coreProperties>
</file>