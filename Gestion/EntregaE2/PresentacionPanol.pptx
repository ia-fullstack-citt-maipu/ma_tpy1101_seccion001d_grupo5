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315" r:id="rId5"/>
    <p:sldId id="362" r:id="rId6"/>
    <p:sldId id="346" r:id="rId7"/>
    <p:sldId id="347" r:id="rId8"/>
    <p:sldId id="364" r:id="rId9"/>
    <p:sldId id="348" r:id="rId10"/>
    <p:sldId id="365" r:id="rId11"/>
    <p:sldId id="366" r:id="rId12"/>
    <p:sldId id="367" r:id="rId13"/>
    <p:sldId id="349" r:id="rId14"/>
    <p:sldId id="368" r:id="rId15"/>
    <p:sldId id="369" r:id="rId16"/>
    <p:sldId id="350" r:id="rId17"/>
    <p:sldId id="370" r:id="rId18"/>
    <p:sldId id="359" r:id="rId19"/>
    <p:sldId id="351" r:id="rId20"/>
    <p:sldId id="371" r:id="rId21"/>
    <p:sldId id="373" r:id="rId22"/>
    <p:sldId id="372" r:id="rId23"/>
    <p:sldId id="334" r:id="rId24"/>
  </p:sldIdLst>
  <p:sldSz cx="12192000" cy="6858000"/>
  <p:notesSz cx="6858000" cy="9144000"/>
  <p:defaultTextStyle>
    <a:defPPr>
      <a:defRPr lang="es-CL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CDD"/>
    <a:srgbClr val="EE7623"/>
    <a:srgbClr val="BB0034"/>
    <a:srgbClr val="9B50C0"/>
    <a:srgbClr val="F9B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15"/>
  </p:normalViewPr>
  <p:slideViewPr>
    <p:cSldViewPr snapToGrid="0">
      <p:cViewPr varScale="1">
        <p:scale>
          <a:sx n="75" d="100"/>
          <a:sy n="75" d="100"/>
        </p:scale>
        <p:origin x="8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incip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57CAB5-419B-D16F-C185-A2D3C653D2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859053" y="1796807"/>
            <a:ext cx="70965" cy="326438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A07B88F-3442-88EF-4332-8188DAED7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350248-3FB5-3C6F-8D72-BDEA02FE930A}"/>
              </a:ext>
            </a:extLst>
          </p:cNvPr>
          <p:cNvSpPr/>
          <p:nvPr userDrawn="1"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F0FCBE2-3DBD-0281-D2F5-F0C94CE8BC2D}"/>
              </a:ext>
            </a:extLst>
          </p:cNvPr>
          <p:cNvCxnSpPr>
            <a:cxnSpLocks/>
          </p:cNvCxnSpPr>
          <p:nvPr userDrawn="1"/>
        </p:nvCxnSpPr>
        <p:spPr>
          <a:xfrm>
            <a:off x="6996223" y="4106486"/>
            <a:ext cx="411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título 1">
            <a:extLst>
              <a:ext uri="{FF2B5EF4-FFF2-40B4-BE49-F238E27FC236}">
                <a16:creationId xmlns:a16="http://schemas.microsoft.com/office/drawing/2014/main" id="{F586EB83-3340-7C71-15A1-A44304B300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3F9325FC-E030-BCB8-203E-374A8BE898B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2E45F7-DBA7-0067-88AC-2B33C1A8CB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68812" y="1206961"/>
            <a:ext cx="3375906" cy="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2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01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355760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02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239545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03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155881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04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78776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6">
            <a:extLst>
              <a:ext uri="{FF2B5EF4-FFF2-40B4-BE49-F238E27FC236}">
                <a16:creationId xmlns:a16="http://schemas.microsoft.com/office/drawing/2014/main" id="{3387B960-FFF9-CB57-ACA9-C9E1213259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85" y="551041"/>
            <a:ext cx="4916775" cy="469685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149A11D1-EAA1-0BB7-CFE5-9056CB346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715" y="1137571"/>
            <a:ext cx="4930746" cy="553006"/>
          </a:xfrm>
        </p:spPr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BF3825-8CDE-15D1-473C-F04253CD9789}"/>
              </a:ext>
            </a:extLst>
          </p:cNvPr>
          <p:cNvSpPr/>
          <p:nvPr userDrawn="1"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BF54666-A2EC-90FE-7052-73357A52AE9A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371A0572-EF4B-CA79-4539-AA0A2E4CD96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1BA993DD-B802-B0F6-BB6C-691D8C644DF2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4">
              <a:extLst>
                <a:ext uri="{FF2B5EF4-FFF2-40B4-BE49-F238E27FC236}">
                  <a16:creationId xmlns:a16="http://schemas.microsoft.com/office/drawing/2014/main" id="{C3421982-2587-852B-E105-195C0E7D9D9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7422255E-C44F-6988-4785-AAC71FA19F3B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6">
                <a:extLst>
                  <a:ext uri="{FF2B5EF4-FFF2-40B4-BE49-F238E27FC236}">
                    <a16:creationId xmlns:a16="http://schemas.microsoft.com/office/drawing/2014/main" id="{C9735AE4-9BC0-BA7F-18A3-3B4538726A97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B8A2F42-00CA-3BF5-D8D0-4B68FE7E8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2714468" y="4342374"/>
            <a:ext cx="119408" cy="42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2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9D0323-C2ED-C0E8-73FE-BEAB8CFEAEB8}"/>
              </a:ext>
            </a:extLst>
          </p:cNvPr>
          <p:cNvSpPr/>
          <p:nvPr userDrawn="1"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A500616-0E5D-9D67-2AD4-83DFD6FEB7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10929134" y="3487483"/>
            <a:ext cx="2392160" cy="133572"/>
          </a:xfrm>
          <a:prstGeom prst="rect">
            <a:avLst/>
          </a:prstGeom>
        </p:spPr>
      </p:pic>
      <p:sp>
        <p:nvSpPr>
          <p:cNvPr id="15" name="Marcador de título 1">
            <a:extLst>
              <a:ext uri="{FF2B5EF4-FFF2-40B4-BE49-F238E27FC236}">
                <a16:creationId xmlns:a16="http://schemas.microsoft.com/office/drawing/2014/main" id="{F57429FB-BAB3-46DE-9370-D3C110C6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F8D0BB2-7009-A53E-830B-0224847CA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 dirty="0"/>
              <a:t>Haz clic para modificar bajada</a:t>
            </a:r>
            <a:endParaRPr lang="es-CL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0600BA2-FE25-D617-556A-284E126C452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214DF2C4-F04D-3C80-781C-59FD036C679C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6664B434-EC06-B2A1-112A-CFBBD91843D1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" name="object 4">
              <a:extLst>
                <a:ext uri="{FF2B5EF4-FFF2-40B4-BE49-F238E27FC236}">
                  <a16:creationId xmlns:a16="http://schemas.microsoft.com/office/drawing/2014/main" id="{78BE0504-3454-CB76-4D2B-96730BFC194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E08B512B-19D5-31EE-38BB-ECE0FD6B8C78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2816031D-2FBD-6D3D-C3AA-EDAC01B1B7B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9C188DE4-1C8A-750A-9834-317895F22B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0414" y="1315256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69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9D0323-C2ED-C0E8-73FE-BEAB8CFEAEB8}"/>
              </a:ext>
            </a:extLst>
          </p:cNvPr>
          <p:cNvSpPr/>
          <p:nvPr userDrawn="1"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A500616-0E5D-9D67-2AD4-83DFD6FEB7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10929134" y="3487483"/>
            <a:ext cx="2392160" cy="133572"/>
          </a:xfrm>
          <a:prstGeom prst="rect">
            <a:avLst/>
          </a:prstGeom>
        </p:spPr>
      </p:pic>
      <p:sp>
        <p:nvSpPr>
          <p:cNvPr id="15" name="Marcador de título 1">
            <a:extLst>
              <a:ext uri="{FF2B5EF4-FFF2-40B4-BE49-F238E27FC236}">
                <a16:creationId xmlns:a16="http://schemas.microsoft.com/office/drawing/2014/main" id="{F57429FB-BAB3-46DE-9370-D3C110C6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F8D0BB2-7009-A53E-830B-0224847CA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 dirty="0"/>
              <a:t>Haz clic para modificar bajada</a:t>
            </a:r>
            <a:endParaRPr lang="es-CL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0600BA2-FE25-D617-556A-284E126C452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214DF2C4-F04D-3C80-781C-59FD036C679C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6664B434-EC06-B2A1-112A-CFBBD91843D1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" name="object 4">
              <a:extLst>
                <a:ext uri="{FF2B5EF4-FFF2-40B4-BE49-F238E27FC236}">
                  <a16:creationId xmlns:a16="http://schemas.microsoft.com/office/drawing/2014/main" id="{78BE0504-3454-CB76-4D2B-96730BFC194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E08B512B-19D5-31EE-38BB-ECE0FD6B8C78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2816031D-2FBD-6D3D-C3AA-EDAC01B1B7B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9C188DE4-1C8A-750A-9834-317895F22B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0414" y="1315256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69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FD1A2D-962B-1B2F-8EFE-116133732487}"/>
              </a:ext>
            </a:extLst>
          </p:cNvPr>
          <p:cNvSpPr/>
          <p:nvPr userDrawn="1"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sp>
        <p:nvSpPr>
          <p:cNvPr id="7" name="Marcador de texto 26">
            <a:extLst>
              <a:ext uri="{FF2B5EF4-FFF2-40B4-BE49-F238E27FC236}">
                <a16:creationId xmlns:a16="http://schemas.microsoft.com/office/drawing/2014/main" id="{FC12E6C9-B6C7-FBEC-A203-87F5181A30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0853" y="405838"/>
            <a:ext cx="4916775" cy="469685"/>
          </a:xfrm>
        </p:spPr>
        <p:txBody>
          <a:bodyPr>
            <a:noAutofit/>
          </a:bodyPr>
          <a:lstStyle>
            <a:lvl1pPr marL="0" indent="0" algn="r">
              <a:buNone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1CE8A453-8074-39A1-48E5-2C3C6BECA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0853" y="976146"/>
            <a:ext cx="4930746" cy="281800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D8A9F2-7C34-CC0C-4A65-766C6591434E}"/>
              </a:ext>
            </a:extLst>
          </p:cNvPr>
          <p:cNvSpPr/>
          <p:nvPr userDrawn="1"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27846E3-6C01-4C3F-2624-7CD8517C984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F0FF35D2-A2FC-35AC-0158-8D26446D585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D52EE463-507D-0E89-A698-37B26D93221E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4">
              <a:extLst>
                <a:ext uri="{FF2B5EF4-FFF2-40B4-BE49-F238E27FC236}">
                  <a16:creationId xmlns:a16="http://schemas.microsoft.com/office/drawing/2014/main" id="{6C83F359-2517-926A-B7D0-D64B0F83FC19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21FEE031-C875-38D1-5382-9E6E11778AA5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08F0296E-9087-FDE0-9CBF-6E89FE8D412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533ECC16-DB92-D7AB-25D1-63F1F6931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592" y="2244940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03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97179" y="2291644"/>
            <a:ext cx="3997641" cy="12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9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8C4651-2B5D-EA62-AC04-17BFDE1E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94B6F9-D351-5B1B-2766-68737957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B60EAB-2F87-323A-DB12-7A3211AAE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4031C-1D81-E945-A028-78780D1B7DE5}" type="datetimeFigureOut">
              <a:rPr lang="es-CL" smtClean="0"/>
              <a:t>30-03-2026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700A7-BE34-6E4B-B14E-9AFE52C9C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9A16B8-55E4-4139-4DE1-4DF901B44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EC0DC-B55F-A543-ADED-336BFEE3FC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302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5" r:id="rId5"/>
    <p:sldLayoutId id="2147483650" r:id="rId6"/>
    <p:sldLayoutId id="2147483658" r:id="rId7"/>
    <p:sldLayoutId id="2147483651" r:id="rId8"/>
    <p:sldLayoutId id="2147483653" r:id="rId9"/>
    <p:sldLayoutId id="2147483652" r:id="rId10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DA3FC-36B2-5E48-53A8-51083BBE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>
                <a:latin typeface="Arial"/>
                <a:cs typeface="Arial"/>
              </a:rPr>
              <a:t>Sistema Pañol Salud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79772-4F2B-0631-AEB4-ED8B1376406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332399"/>
          </a:xfrm>
        </p:spPr>
        <p:txBody>
          <a:bodyPr/>
          <a:lstStyle/>
          <a:p>
            <a:r>
              <a:rPr lang="es-MX" dirty="0">
                <a:latin typeface="Arial"/>
                <a:cs typeface="Arial"/>
              </a:rPr>
              <a:t>Plataforma web de gestión de inventario y préstamos — Escuela de Salud DuocUC Maipú</a:t>
            </a:r>
          </a:p>
        </p:txBody>
      </p:sp>
    </p:spTree>
    <p:extLst>
      <p:ext uri="{BB962C8B-B14F-4D97-AF65-F5344CB8AC3E}">
        <p14:creationId xmlns:p14="http://schemas.microsoft.com/office/powerpoint/2010/main" val="4107047696"/>
      </p:ext>
    </p:extLst>
  </p:cSld>
  <p:clrMapOvr>
    <a:masterClrMapping/>
  </p:clrMapOvr>
  <p:transition spd="med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6ECA7CD-F7EE-85B6-114F-0E03EEAC8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81000"/>
            <a:ext cx="10414000" cy="698500"/>
          </a:xfrm>
        </p:spPr>
        <p:txBody>
          <a:bodyPr/>
          <a:lstStyle/>
          <a:p>
            <a:pPr marL="227965" indent="-227965"/>
            <a:r>
              <a:rPr lang="es-MX" dirty="0">
                <a:latin typeface="Arial"/>
                <a:cs typeface="Arial"/>
              </a:rPr>
              <a:t>Equipo de Proyecto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6F44F8-E010-BAFE-FCB3-7DAD887953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206500"/>
            <a:ext cx="5502564" cy="5080000"/>
          </a:xfrm>
        </p:spPr>
        <p:txBody>
          <a:bodyPr wrap="square">
            <a:noAutofit/>
          </a:bodyPr>
          <a:lstStyle/>
          <a:p>
            <a:pPr marL="227965" indent="-227965">
              <a:buNone/>
            </a:pPr>
            <a:r>
              <a:rPr lang="es-MX" sz="2000" b="1" dirty="0">
                <a:latin typeface="Arial"/>
                <a:cs typeface="Arial"/>
              </a:rPr>
              <a:t>César Augusto Rojas Ramos</a:t>
            </a:r>
          </a:p>
          <a:p>
            <a:pPr marL="227965" indent="-227965">
              <a:buNone/>
            </a:pPr>
            <a:r>
              <a:rPr lang="es-MX" sz="1700" dirty="0">
                <a:latin typeface="Arial"/>
                <a:cs typeface="Arial"/>
              </a:rPr>
              <a:t>Scrum Master — Arquitectura</a:t>
            </a:r>
          </a:p>
          <a:p>
            <a:pPr marL="227965" indent="-227965">
              <a:buNone/>
            </a:pPr>
            <a:r>
              <a:rPr lang="es-MX" sz="1600" dirty="0">
                <a:latin typeface="Arial"/>
                <a:cs typeface="Arial"/>
              </a:rPr>
              <a:t>22.307.980-6</a:t>
            </a:r>
          </a:p>
          <a:p>
            <a:pPr marL="227965" indent="-227965">
              <a:buNone/>
            </a:pPr>
            <a:endParaRPr lang="es-MX" sz="1600" dirty="0"/>
          </a:p>
          <a:p>
            <a:pPr marL="227965" indent="-227965">
              <a:buNone/>
            </a:pPr>
            <a:endParaRPr lang="es-MX" sz="1600" dirty="0"/>
          </a:p>
          <a:p>
            <a:pPr marL="227965" indent="-227965">
              <a:buNone/>
            </a:pPr>
            <a:endParaRPr lang="es-MX" sz="1600" dirty="0"/>
          </a:p>
          <a:p>
            <a:pPr marL="227965" indent="-227965">
              <a:buNone/>
            </a:pPr>
            <a:r>
              <a:rPr lang="es-MX" sz="2000" b="1" dirty="0">
                <a:latin typeface="Arial"/>
                <a:cs typeface="Arial"/>
              </a:rPr>
              <a:t>Lucas Fabián Moncada Espinoza</a:t>
            </a:r>
          </a:p>
          <a:p>
            <a:pPr marL="227965" indent="-227965">
              <a:buNone/>
            </a:pPr>
            <a:r>
              <a:rPr lang="es-MX" sz="1700" dirty="0">
                <a:latin typeface="Arial"/>
                <a:cs typeface="Arial"/>
              </a:rPr>
              <a:t>Dev </a:t>
            </a:r>
            <a:r>
              <a:rPr lang="es-MX" sz="1700" dirty="0" err="1">
                <a:latin typeface="Arial"/>
                <a:cs typeface="Arial"/>
              </a:rPr>
              <a:t>Fullstack</a:t>
            </a:r>
            <a:r>
              <a:rPr lang="es-MX" sz="1700" dirty="0">
                <a:latin typeface="Arial"/>
                <a:cs typeface="Arial"/>
              </a:rPr>
              <a:t> — </a:t>
            </a:r>
            <a:r>
              <a:rPr lang="es-MX" sz="1700" dirty="0" err="1">
                <a:latin typeface="Arial"/>
                <a:cs typeface="Arial"/>
              </a:rPr>
              <a:t>Analytics</a:t>
            </a:r>
            <a:endParaRPr lang="es-MX" sz="1700" dirty="0">
              <a:latin typeface="Arial"/>
              <a:cs typeface="Arial"/>
            </a:endParaRPr>
          </a:p>
          <a:p>
            <a:pPr marL="227965" indent="-227965">
              <a:buNone/>
            </a:pPr>
            <a:r>
              <a:rPr lang="es-MX" sz="1600" dirty="0">
                <a:latin typeface="Arial"/>
                <a:cs typeface="Arial"/>
              </a:rPr>
              <a:t>22.002.610-8</a:t>
            </a:r>
          </a:p>
          <a:p>
            <a:pPr marL="227965" indent="-227965">
              <a:buNone/>
            </a:pPr>
            <a:endParaRPr lang="es-MX" sz="1600" dirty="0"/>
          </a:p>
          <a:p>
            <a:pPr marL="227965" indent="-227965">
              <a:buNone/>
            </a:pPr>
            <a:endParaRPr lang="es-MX" sz="1600" dirty="0"/>
          </a:p>
          <a:p>
            <a:pPr marL="227965" indent="-227965">
              <a:buNone/>
            </a:pPr>
            <a:r>
              <a:rPr lang="es-MX" sz="1600" dirty="0">
                <a:latin typeface="Arial"/>
                <a:cs typeface="Arial"/>
              </a:rPr>
              <a:t>DuocUC — Escuela de Informática y Telecomunicaciones</a:t>
            </a:r>
          </a:p>
          <a:p>
            <a:pPr marL="227965" indent="-227965">
              <a:buNone/>
            </a:pPr>
            <a:r>
              <a:rPr lang="es-MX" sz="1600" dirty="0">
                <a:latin typeface="Arial"/>
                <a:cs typeface="Arial"/>
              </a:rPr>
              <a:t>TPY 1101 — Sede Maipú — 2024</a:t>
            </a:r>
          </a:p>
        </p:txBody>
      </p:sp>
      <p:pic>
        <p:nvPicPr>
          <p:cNvPr id="4" name="Graphic 4" descr="Documentación del proyect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6197600"/>
            <a:ext cx="609600" cy="6096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07C0A42-F62A-41CD-BD14-A7892BCE2D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13" t="30302" r="13653" b="21207"/>
          <a:stretch/>
        </p:blipFill>
        <p:spPr>
          <a:xfrm>
            <a:off x="4752074" y="897327"/>
            <a:ext cx="1341606" cy="16304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35A9A7B-3923-454D-8BCD-7D52F87C95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23" t="4803" r="881" b="25741"/>
          <a:stretch/>
        </p:blipFill>
        <p:spPr>
          <a:xfrm>
            <a:off x="4677039" y="3034366"/>
            <a:ext cx="1470915" cy="162383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Professional team collaborating in a modern office environment ...">
            <a:extLst>
              <a:ext uri="{FF2B5EF4-FFF2-40B4-BE49-F238E27FC236}">
                <a16:creationId xmlns:a16="http://schemas.microsoft.com/office/drawing/2014/main" id="{E6E367F8-6262-4713-86C8-536813AC3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796" y="446131"/>
            <a:ext cx="5437431" cy="543743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219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MX" dirty="0">
                <a:latin typeface="Arial"/>
                <a:cs typeface="Arial"/>
              </a:rPr>
              <a:t>Índice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715" y="1137570"/>
            <a:ext cx="6555952" cy="318042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227965" indent="-227965"/>
            <a:r>
              <a:rPr lang="es-MX" sz="2000" dirty="0">
                <a:latin typeface="Arial"/>
                <a:cs typeface="Arial"/>
              </a:rPr>
              <a:t>01  Descripción y Contexto del Proyecto</a:t>
            </a:r>
          </a:p>
          <a:p>
            <a:pPr marL="227965" indent="-227965"/>
            <a:r>
              <a:rPr lang="es-MX" sz="2000" dirty="0">
                <a:latin typeface="Arial"/>
                <a:cs typeface="Arial"/>
              </a:rPr>
              <a:t>02  Problemática y Causas</a:t>
            </a:r>
          </a:p>
          <a:p>
            <a:pPr marL="227965" indent="-227965"/>
            <a:r>
              <a:rPr lang="es-MX" sz="2000" dirty="0">
                <a:latin typeface="Arial"/>
                <a:cs typeface="Arial"/>
              </a:rPr>
              <a:t>03  Objetivos del Proyecto</a:t>
            </a:r>
          </a:p>
          <a:p>
            <a:pPr marL="227965" indent="-227965"/>
            <a:r>
              <a:rPr lang="es-MX" sz="2000" dirty="0">
                <a:latin typeface="Arial"/>
                <a:cs typeface="Arial"/>
              </a:rPr>
              <a:t>04  Alcance — Entregables y Restricciones</a:t>
            </a:r>
          </a:p>
          <a:p>
            <a:pPr marL="227965" indent="-227965"/>
            <a:r>
              <a:rPr lang="es-MX" sz="2000" dirty="0">
                <a:latin typeface="Arial"/>
                <a:cs typeface="Arial"/>
              </a:rPr>
              <a:t>05  Metodología — Scrum Simplificado</a:t>
            </a:r>
          </a:p>
          <a:p>
            <a:pPr marL="227965" indent="-227965"/>
            <a:r>
              <a:rPr lang="es-MX" sz="2000" dirty="0">
                <a:latin typeface="Arial"/>
                <a:cs typeface="Arial"/>
              </a:rPr>
              <a:t>06  Stack Tecnológico y Cloud</a:t>
            </a:r>
          </a:p>
          <a:p>
            <a:pPr marL="227965" indent="-227965"/>
            <a:r>
              <a:rPr lang="es-MX" sz="2000" dirty="0">
                <a:latin typeface="Arial"/>
                <a:cs typeface="Arial"/>
              </a:rPr>
              <a:t>07  Calidad, Seguridad y Valor</a:t>
            </a:r>
          </a:p>
          <a:p>
            <a:pPr marL="227965" indent="-227965"/>
            <a:r>
              <a:rPr lang="es-MX" sz="2000" dirty="0">
                <a:latin typeface="Arial"/>
                <a:cs typeface="Arial"/>
              </a:rPr>
              <a:t>08  Arquitectura Técnica</a:t>
            </a:r>
          </a:p>
          <a:p>
            <a:pPr marL="227965" indent="-227965"/>
            <a:r>
              <a:rPr lang="es-MX" sz="2000" dirty="0">
                <a:latin typeface="Arial"/>
                <a:cs typeface="Arial"/>
              </a:rPr>
              <a:t>09  Plan de Trabajo — Sprints</a:t>
            </a:r>
          </a:p>
          <a:p>
            <a:pPr marL="227965" indent="-227965"/>
            <a:r>
              <a:rPr lang="es-MX" sz="2000" dirty="0">
                <a:latin typeface="Arial"/>
                <a:cs typeface="Arial"/>
              </a:rPr>
              <a:t>10  Evidencias y Equipo</a:t>
            </a:r>
          </a:p>
        </p:txBody>
      </p:sp>
    </p:spTree>
    <p:extLst>
      <p:ext uri="{BB962C8B-B14F-4D97-AF65-F5344CB8AC3E}">
        <p14:creationId xmlns:p14="http://schemas.microsoft.com/office/powerpoint/2010/main" val="2090007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BB4C7-D01B-3BCB-C12A-831C9291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i="1" dirty="0"/>
              <a:t>01. Descripción y Contexto del Proyecto</a:t>
            </a:r>
          </a:p>
        </p:txBody>
      </p:sp>
    </p:spTree>
    <p:extLst>
      <p:ext uri="{BB962C8B-B14F-4D97-AF65-F5344CB8AC3E}">
        <p14:creationId xmlns:p14="http://schemas.microsoft.com/office/powerpoint/2010/main" val="3248802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81000"/>
            <a:ext cx="10414000" cy="698500"/>
          </a:xfrm>
        </p:spPr>
        <p:txBody>
          <a:bodyPr/>
          <a:lstStyle/>
          <a:p>
            <a:pPr marL="227965" indent="-227965"/>
            <a:r>
              <a:rPr lang="es-MX" dirty="0">
                <a:latin typeface="Arial"/>
                <a:cs typeface="Arial"/>
              </a:rPr>
              <a:t>Contexto del Proyecto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787" y="3757640"/>
            <a:ext cx="4845686" cy="2023574"/>
          </a:xfrm>
        </p:spPr>
        <p:txBody>
          <a:bodyPr>
            <a:normAutofit lnSpcReduction="10000"/>
          </a:bodyPr>
          <a:lstStyle/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Antecedentes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DuocUC sede Maipú — Escuela de Salud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Gestión manual de implementos académicos (laboratorios, talleres, simuladores clínicos)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Control actual: planilla Excel con nombre, cantidad, ubicación e imagen — sin trazabilidad</a:t>
            </a:r>
          </a:p>
        </p:txBody>
      </p:sp>
      <p:pic>
        <p:nvPicPr>
          <p:cNvPr id="4" name="Graphic 4" descr="Equipo de desarroll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6197600"/>
            <a:ext cx="609600" cy="6096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014BA64-09C5-43EF-A4F8-DCA65D3FD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213" y="1079500"/>
            <a:ext cx="6477000" cy="431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AFA5F4F-A2AA-4BDE-891F-48C5C64AAC48}"/>
              </a:ext>
            </a:extLst>
          </p:cNvPr>
          <p:cNvSpPr/>
          <p:nvPr/>
        </p:nvSpPr>
        <p:spPr>
          <a:xfrm>
            <a:off x="129310" y="1089898"/>
            <a:ext cx="477520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7965" indent="-227965">
              <a:buNone/>
            </a:pPr>
            <a:r>
              <a:rPr lang="es-MX" sz="2000" b="1" dirty="0">
                <a:latin typeface="Arial"/>
                <a:cs typeface="Arial"/>
              </a:rPr>
              <a:t>Objetivo General</a:t>
            </a:r>
          </a:p>
          <a:p>
            <a:pPr marL="457200" indent="-228600">
              <a:buFont typeface="Arial"/>
              <a:buChar char="•"/>
            </a:pPr>
            <a:r>
              <a:rPr lang="es-MX" dirty="0">
                <a:latin typeface="Arial"/>
                <a:cs typeface="Arial"/>
              </a:rPr>
              <a:t>Desarrollar una plataforma web para la gestión centralizada del inventario y préstamos de la Escuela de Salud </a:t>
            </a:r>
            <a:r>
              <a:rPr lang="es-MX" dirty="0" err="1">
                <a:latin typeface="Arial"/>
                <a:cs typeface="Arial"/>
              </a:rPr>
              <a:t>DuocUC</a:t>
            </a:r>
            <a:r>
              <a:rPr lang="es-MX" dirty="0">
                <a:latin typeface="Arial"/>
                <a:cs typeface="Arial"/>
              </a:rPr>
              <a:t> Maipú, digitalizando y formalizando los procesos operativos del pañol con trazabilidad y disponibilidad en tiempo real.</a:t>
            </a:r>
          </a:p>
        </p:txBody>
      </p:sp>
    </p:spTree>
    <p:extLst>
      <p:ext uri="{BB962C8B-B14F-4D97-AF65-F5344CB8AC3E}">
        <p14:creationId xmlns:p14="http://schemas.microsoft.com/office/powerpoint/2010/main" val="4212022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75D5F-3083-1EF5-C86C-E4F5A64A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i="1" dirty="0"/>
              <a:t>02. Problemática y Objetivos</a:t>
            </a:r>
          </a:p>
        </p:txBody>
      </p:sp>
    </p:spTree>
    <p:extLst>
      <p:ext uri="{BB962C8B-B14F-4D97-AF65-F5344CB8AC3E}">
        <p14:creationId xmlns:p14="http://schemas.microsoft.com/office/powerpoint/2010/main" val="177384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3427F48-29DF-EEA2-E285-F7CB9F91B9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81000"/>
            <a:ext cx="10414000" cy="698500"/>
          </a:xfrm>
        </p:spPr>
        <p:txBody>
          <a:bodyPr/>
          <a:lstStyle/>
          <a:p>
            <a:pPr marL="227965" indent="-227965"/>
            <a:r>
              <a:rPr lang="es-MX" dirty="0">
                <a:latin typeface="Arial"/>
                <a:cs typeface="Arial"/>
              </a:rPr>
              <a:t>Problemática Identificada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3C65F2-F795-5B6F-8461-F6ECF26A29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206500"/>
            <a:ext cx="11176000" cy="5207000"/>
          </a:xfrm>
        </p:spPr>
        <p:txBody>
          <a:bodyPr wrap="square">
            <a:noAutofit/>
          </a:bodyPr>
          <a:lstStyle/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Causas Identificadas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Gestión manual con planilla Excel: sin estados de stock, sin historial ni control de concurrencia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Sin flujo formal de solicitud, aprobación, entrega y devolución de implementos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Crecimiento sostenido en volumen de implementos y frecuencia de solicitudes — sistema no escala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Sin alertas automáticas de stock mínimo para implementos críticos</a:t>
            </a:r>
          </a:p>
          <a:p>
            <a:pPr marL="227965" indent="-227965">
              <a:buNone/>
            </a:pPr>
            <a:endParaRPr lang="es-MX" sz="1600" dirty="0"/>
          </a:p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Efectos Observados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Riesgo de duplicidad de préstamos ante solicitudes simultáneas (sin validación en tiempo real)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Pérdida o extravío de implementos por falta de trazabilidad en entregas y devoluciones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Riesgo de interrupciones académicas por faltantes no anticipados de stock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Sobrecarga operativa del pañolero al gestionar todas las solicitudes manualmente</a:t>
            </a:r>
          </a:p>
        </p:txBody>
      </p:sp>
    </p:spTree>
    <p:extLst>
      <p:ext uri="{BB962C8B-B14F-4D97-AF65-F5344CB8AC3E}">
        <p14:creationId xmlns:p14="http://schemas.microsoft.com/office/powerpoint/2010/main" val="1165329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16462BB-01B0-4EE9-C8FF-34B4A335EF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81000"/>
            <a:ext cx="10414000" cy="698500"/>
          </a:xfrm>
        </p:spPr>
        <p:txBody>
          <a:bodyPr/>
          <a:lstStyle/>
          <a:p>
            <a:pPr marL="227965" indent="-227965"/>
            <a:r>
              <a:rPr lang="es-MX" dirty="0">
                <a:latin typeface="Arial"/>
                <a:cs typeface="Arial"/>
              </a:rPr>
              <a:t>Objetivos del Proyecto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BF6A8E-E641-4539-294B-61783360E8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7854" y="1197927"/>
            <a:ext cx="6413090" cy="5080000"/>
          </a:xfrm>
        </p:spPr>
        <p:txBody>
          <a:bodyPr wrap="square">
            <a:noAutofit/>
          </a:bodyPr>
          <a:lstStyle/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Objetivos Específicos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Levantar y documentar requerimientos mediante entrevistas con pañolero, docentes y director de carrera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Definir la arquitectura del sistema, decisiones tecnológicas y modelo de datos con justificaciones técnicas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Construir y mantener el Product Backlog con Épicas e Historias de Usuario priorizadas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Aplicar Scrum Simplificado con sprints de planificación, desarrollo iterativo, revisión y retrospectiva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Desarrollar el software aplicando buenas prácticas: control de versiones, separación de responsabilidades, pruebas y documentación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Validar funcionalmente el sistema mediante pruebas de que los requerimientos definidos sean cumplidos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Generar documentación final: técnica, manual de usuario y evidencia de funcionamiento</a:t>
            </a:r>
          </a:p>
        </p:txBody>
      </p:sp>
      <p:pic>
        <p:nvPicPr>
          <p:cNvPr id="4" name="Graphic 4" descr="Objetivos del proyect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6197600"/>
            <a:ext cx="609600" cy="609600"/>
          </a:xfrm>
          <a:prstGeom prst="rect">
            <a:avLst/>
          </a:prstGeom>
        </p:spPr>
      </p:pic>
      <p:pic>
        <p:nvPicPr>
          <p:cNvPr id="2052" name="Picture 4" descr="Icono de Objetivo Generic Isometric">
            <a:extLst>
              <a:ext uri="{FF2B5EF4-FFF2-40B4-BE49-F238E27FC236}">
                <a16:creationId xmlns:a16="http://schemas.microsoft.com/office/drawing/2014/main" id="{10F6CE1A-1D97-44EF-B6B2-6D6AD56CD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08395"/>
            <a:ext cx="563880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396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81130E8-651B-55DB-CBAB-02F0C01908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81000"/>
            <a:ext cx="10414000" cy="698500"/>
          </a:xfrm>
        </p:spPr>
        <p:txBody>
          <a:bodyPr/>
          <a:lstStyle/>
          <a:p>
            <a:pPr marL="227965" indent="-227965"/>
            <a:r>
              <a:rPr lang="es-MX" dirty="0">
                <a:latin typeface="Arial"/>
                <a:cs typeface="Arial"/>
              </a:rPr>
              <a:t>Alcance del Proyecto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C4DF93-D83A-4EF9-3E87-33918E755D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206500"/>
            <a:ext cx="11176000" cy="5207000"/>
          </a:xfrm>
        </p:spPr>
        <p:txBody>
          <a:bodyPr wrap="square">
            <a:noAutofit/>
          </a:bodyPr>
          <a:lstStyle/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Incluido en el Alcance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Catálogo de productos con stock agregado por estado (disponible, prestado, dañado, etc.)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Flujo completo de préstamos: solicitud → aprobación/rechazo → entrega → devolución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Control de concurrencia (SELECT FOR UPDATE) para prevenir sobreasignación simultánea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Panel del pañolero + alertas de stock mínimo + bot de asistencia IA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Registro y trazabilidad completa de movimientos de inventario + generación de códigos de barra</a:t>
            </a:r>
          </a:p>
          <a:p>
            <a:pPr marL="227965" indent="-227965">
              <a:buNone/>
            </a:pPr>
            <a:endParaRPr lang="es-MX" sz="1600" dirty="0"/>
          </a:p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Fuera del Alcance / Restricciones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15 semanas — equipo de 2 personas con dedicación académica parcial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Solo sede Maipú — sin gestión multi-escuela ni multi-sede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Sin app móvil, sin integración institucional, sin predicción avanzada de demanda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Solo tecnologías open source o de uso gratuito en contexto académico</a:t>
            </a:r>
          </a:p>
        </p:txBody>
      </p:sp>
    </p:spTree>
    <p:extLst>
      <p:ext uri="{BB962C8B-B14F-4D97-AF65-F5344CB8AC3E}">
        <p14:creationId xmlns:p14="http://schemas.microsoft.com/office/powerpoint/2010/main" val="783035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1CA39-87F3-0EFA-56CE-53F49FD0A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i="1" dirty="0"/>
              <a:t>03. Metodología — Scrum Simplificado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0135B73-4CBC-4065-8DE8-94BB6872FBB0}"/>
              </a:ext>
            </a:extLst>
          </p:cNvPr>
          <p:cNvSpPr/>
          <p:nvPr/>
        </p:nvSpPr>
        <p:spPr>
          <a:xfrm>
            <a:off x="0" y="2698129"/>
            <a:ext cx="1459345" cy="144655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E55CA7B-57F1-4EF5-B3D9-71091A6E2F6F}"/>
              </a:ext>
            </a:extLst>
          </p:cNvPr>
          <p:cNvSpPr txBox="1"/>
          <p:nvPr/>
        </p:nvSpPr>
        <p:spPr>
          <a:xfrm>
            <a:off x="92363" y="2698129"/>
            <a:ext cx="14428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bg1"/>
                </a:solidFill>
              </a:rPr>
              <a:t>03</a:t>
            </a:r>
            <a:endParaRPr lang="es-PE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439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B536141-0AD6-B9A0-A17E-3969ABD5EE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81000"/>
            <a:ext cx="10414000" cy="698500"/>
          </a:xfrm>
        </p:spPr>
        <p:txBody>
          <a:bodyPr/>
          <a:lstStyle/>
          <a:p>
            <a:pPr marL="227965" indent="-227965"/>
            <a:r>
              <a:rPr lang="es-MX" dirty="0">
                <a:latin typeface="Arial"/>
                <a:cs typeface="Arial"/>
              </a:rPr>
              <a:t>Metodología — Scrum Simplificado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C06CC1-0C52-B333-B2D4-21A8D609A3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206500"/>
            <a:ext cx="11176000" cy="5207000"/>
          </a:xfrm>
        </p:spPr>
        <p:txBody>
          <a:bodyPr wrap="square">
            <a:noAutofit/>
          </a:bodyPr>
          <a:lstStyle/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¿Por qué Scrum Simplificado?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Equipo pequeño (2 personas) — metodologías pesadas como RUP o cascada generan overhead innecesario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Plazo acotado de 15 semanas — entrega de valor funcional incremental, detección temprana de problemas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Requisitos conocidos a alto nivel pero evolutivos — sprints permiten incorporar ajustes entre iteraciones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Entregables verificables por sprint: incrementos funcionales demostrables al cierre de cada iteración</a:t>
            </a:r>
          </a:p>
          <a:p>
            <a:pPr marL="227965" indent="-227965">
              <a:buNone/>
            </a:pPr>
            <a:endParaRPr lang="es-MX" sz="1600" dirty="0"/>
          </a:p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Artefactos y Ceremonias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Product Backlog — fuente única de trabajo, refinado continuamente entre sprints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Épicas e Historias de Usuario con criterios de aceptación y story points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Sprint Planning + Sprint Review + Retrospectiva — ciclo de 2 semanas por sprint</a:t>
            </a:r>
          </a:p>
        </p:txBody>
      </p:sp>
    </p:spTree>
    <p:extLst>
      <p:ext uri="{BB962C8B-B14F-4D97-AF65-F5344CB8AC3E}">
        <p14:creationId xmlns:p14="http://schemas.microsoft.com/office/powerpoint/2010/main" val="1937507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0A70A7D-687A-E023-E428-78CFDF40E7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81000"/>
            <a:ext cx="10414000" cy="698500"/>
          </a:xfrm>
        </p:spPr>
        <p:txBody>
          <a:bodyPr/>
          <a:lstStyle/>
          <a:p>
            <a:pPr marL="227965" indent="-227965"/>
            <a:r>
              <a:rPr lang="es-MX" dirty="0">
                <a:latin typeface="Arial"/>
                <a:cs typeface="Arial"/>
              </a:rPr>
              <a:t>Stack Tecnológico y Cloud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E8EC25-755C-60FA-7503-35AD47D99F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206500"/>
            <a:ext cx="11176000" cy="5207000"/>
          </a:xfrm>
        </p:spPr>
        <p:txBody>
          <a:bodyPr wrap="square">
            <a:noAutofit/>
          </a:bodyPr>
          <a:lstStyle/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Backend &amp; Frontend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Java 21 + Spring Boot — API REST en capas (Controller → Service → Repository con jOOQ)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React + Vite + TypeScript + Tailwind CSS — SPA modular con hooks y contextos globales</a:t>
            </a:r>
          </a:p>
          <a:p>
            <a:pPr marL="227965" indent="-227965">
              <a:buNone/>
            </a:pPr>
            <a:endParaRPr lang="es-MX" sz="1600" dirty="0"/>
          </a:p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Datos, Servicios e Infraestructura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PostgreSQL — base principal: transacciones ACID, bloqueo pesimista, triggers, ENUMs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MongoDB — logs, auditoría y eventos históricos (registro asíncrono)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Redis — caché en memoria y control de concurrencia distribuida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Docker + Docker Compose — contenedorización y orquestación del entorno completo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Python + OpenAI/Gemini/Anthropic — bot IA como microservicio independiente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JWT (JSON Web Tokens) — autenticación y control de acceso RBAC sin sesiones en servidor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Flyway — versionado y migraciones del esquema de base de datos</a:t>
            </a:r>
          </a:p>
        </p:txBody>
      </p:sp>
    </p:spTree>
    <p:extLst>
      <p:ext uri="{BB962C8B-B14F-4D97-AF65-F5344CB8AC3E}">
        <p14:creationId xmlns:p14="http://schemas.microsoft.com/office/powerpoint/2010/main" val="1868290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754BD-6613-287A-A91B-3737352ED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i="1" dirty="0"/>
              <a:t>04. Tecnología y Arquitectura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1C74A53-0918-41E6-8C77-72803DEFCE42}"/>
              </a:ext>
            </a:extLst>
          </p:cNvPr>
          <p:cNvSpPr/>
          <p:nvPr/>
        </p:nvSpPr>
        <p:spPr>
          <a:xfrm>
            <a:off x="0" y="2698129"/>
            <a:ext cx="1459345" cy="144655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9C65043-7CEB-4A23-9D6B-07C72AB70817}"/>
              </a:ext>
            </a:extLst>
          </p:cNvPr>
          <p:cNvSpPr txBox="1"/>
          <p:nvPr/>
        </p:nvSpPr>
        <p:spPr>
          <a:xfrm>
            <a:off x="92363" y="2698129"/>
            <a:ext cx="14428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bg1"/>
                </a:solidFill>
              </a:rPr>
              <a:t>04</a:t>
            </a:r>
            <a:endParaRPr lang="es-PE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301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4496E8A-8EAC-55BF-BA1C-8C4D5CC29F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81000"/>
            <a:ext cx="10414000" cy="698500"/>
          </a:xfrm>
        </p:spPr>
        <p:txBody>
          <a:bodyPr/>
          <a:lstStyle/>
          <a:p>
            <a:pPr marL="227965" indent="-227965"/>
            <a:r>
              <a:rPr lang="es-MX" dirty="0">
                <a:latin typeface="Arial"/>
                <a:cs typeface="Arial"/>
              </a:rPr>
              <a:t>Arquitectura Técnica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1635-36C6-910F-D23A-469105FACF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206500"/>
            <a:ext cx="11176000" cy="5207000"/>
          </a:xfrm>
        </p:spPr>
        <p:txBody>
          <a:bodyPr wrap="square">
            <a:noAutofit/>
          </a:bodyPr>
          <a:lstStyle/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Arquitectura General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SPA (React) + API REST (Spring Boot) desacoplados — comunicación HTTP/HTTPS y WebSocket en tiempo real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Backend en capas: Controller → Service → Repository (jOOQ) → Security (JWT/RBAC) → Event/Logging (MongoDB)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Persistencia híbrida: PostgreSQL (transaccional) + MongoDB (histórico/logs) — registro asíncrono</a:t>
            </a:r>
          </a:p>
          <a:p>
            <a:pPr marL="227965" indent="-227965">
              <a:buNone/>
            </a:pPr>
            <a:endParaRPr lang="es-MX" sz="1600" dirty="0"/>
          </a:p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Módulos Clave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Control de concurrencia: SELECT FOR UPDATE (PostgreSQL) + bloqueos Redis para solicitudes simultáneas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JWT + RBAC: autenticación sin sesiones, roles pañolero / docente / director de carrera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WebSocket — notificaciones en tiempo real: alertas de stock mínimo y cambios de estado de préstamos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Bot IA — microservicio Python independiente integrado por API REST con el backend</a:t>
            </a:r>
          </a:p>
        </p:txBody>
      </p:sp>
    </p:spTree>
    <p:extLst>
      <p:ext uri="{BB962C8B-B14F-4D97-AF65-F5344CB8AC3E}">
        <p14:creationId xmlns:p14="http://schemas.microsoft.com/office/powerpoint/2010/main" val="2180828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AA12DEF-0DC1-13D8-C10A-EC7A204A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81000"/>
            <a:ext cx="10414000" cy="698500"/>
          </a:xfrm>
        </p:spPr>
        <p:txBody>
          <a:bodyPr/>
          <a:lstStyle/>
          <a:p>
            <a:pPr marL="227965" indent="-227965"/>
            <a:r>
              <a:rPr lang="es-MX" dirty="0">
                <a:latin typeface="Arial"/>
                <a:cs typeface="Arial"/>
              </a:rPr>
              <a:t>Calidad, Seguridad y Valor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76A00F-9E72-70A3-D460-03C8C9D5E8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206500"/>
            <a:ext cx="11176000" cy="5207000"/>
          </a:xfrm>
        </p:spPr>
        <p:txBody>
          <a:bodyPr wrap="square">
            <a:noAutofit/>
          </a:bodyPr>
          <a:lstStyle/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Atributos de Calidad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Integridad — transacciones ACID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Confiabilidad — Docker + alta disponibilidad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Seguridad — JWT + RBAC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Oportunidad — notificaciones y alertas en tiempo real</a:t>
            </a:r>
          </a:p>
          <a:p>
            <a:pPr marL="227965" indent="-227965">
              <a:buNone/>
            </a:pPr>
            <a:endParaRPr lang="es-MX" sz="1600" dirty="0"/>
          </a:p>
          <a:p>
            <a:pPr marL="227965" indent="-227965">
              <a:buNone/>
            </a:pPr>
            <a:r>
              <a:rPr lang="es-MX" sz="1800" b="1" dirty="0">
                <a:latin typeface="Arial"/>
                <a:cs typeface="Arial"/>
              </a:rPr>
              <a:t>Valor para el Cliente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Cero duplicidad de préstamos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Visibilidad total del inventario — auditoría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Automatización — menos tiempo operativo</a:t>
            </a:r>
          </a:p>
        </p:txBody>
      </p:sp>
      <p:pic>
        <p:nvPicPr>
          <p:cNvPr id="3074" name="Picture 2" descr="Icono De Apretón De Manos E Iconos De Protección De La Seguridad Como ...">
            <a:extLst>
              <a:ext uri="{FF2B5EF4-FFF2-40B4-BE49-F238E27FC236}">
                <a16:creationId xmlns:a16="http://schemas.microsoft.com/office/drawing/2014/main" id="{6C6C4F4C-28D9-4E21-B1A2-5D147F929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782" y="730250"/>
            <a:ext cx="5486400" cy="538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75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1D806-930F-0BE2-8927-2A8EB855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i="1" dirty="0"/>
              <a:t>05. Plan de Trabajo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DFE8A94-E0B0-4DC3-80B0-420A76C81B6A}"/>
              </a:ext>
            </a:extLst>
          </p:cNvPr>
          <p:cNvSpPr/>
          <p:nvPr/>
        </p:nvSpPr>
        <p:spPr>
          <a:xfrm>
            <a:off x="0" y="2698129"/>
            <a:ext cx="1459345" cy="144655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483531-6F92-47F6-99BF-97D7F3E0207F}"/>
              </a:ext>
            </a:extLst>
          </p:cNvPr>
          <p:cNvSpPr txBox="1"/>
          <p:nvPr/>
        </p:nvSpPr>
        <p:spPr>
          <a:xfrm>
            <a:off x="92363" y="2698129"/>
            <a:ext cx="14428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bg1"/>
                </a:solidFill>
              </a:rPr>
              <a:t>05</a:t>
            </a:r>
            <a:endParaRPr lang="es-PE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521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326F9B7-D553-01AE-F864-04AE7065F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81000"/>
            <a:ext cx="10414000" cy="698500"/>
          </a:xfrm>
        </p:spPr>
        <p:txBody>
          <a:bodyPr/>
          <a:lstStyle/>
          <a:p>
            <a:pPr marL="227965" indent="-227965"/>
            <a:r>
              <a:rPr lang="es-MX" dirty="0">
                <a:latin typeface="Arial"/>
                <a:cs typeface="Arial"/>
              </a:rPr>
              <a:t>Plan de Trabajo — 15 Semanas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FA6DDD-CF88-50B6-64CE-FA23A041ED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206500"/>
            <a:ext cx="10795000" cy="5080000"/>
          </a:xfrm>
        </p:spPr>
        <p:txBody>
          <a:bodyPr wrap="square">
            <a:noAutofit/>
          </a:bodyPr>
          <a:lstStyle/>
          <a:p>
            <a:pPr marL="227965" indent="-227965">
              <a:buNone/>
            </a:pPr>
            <a:r>
              <a:rPr lang="es-MX" sz="1600" b="1" dirty="0">
                <a:latin typeface="Arial"/>
                <a:cs typeface="Arial"/>
              </a:rPr>
              <a:t>Etapa 1 — Levantamiento y análisis (S1–S4)  ★ Estado Avance N°1 (S4)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Sprint 0 (S1–S2): Comprensión del problema, identificación de actores y necesidades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Sprint 1 (S3–S4): Definición de objetivos, alcance, Product Backlog y selección de tecnologías</a:t>
            </a:r>
          </a:p>
          <a:p>
            <a:pPr marL="227965" indent="-227965">
              <a:buNone/>
            </a:pPr>
            <a:endParaRPr lang="es-MX" sz="1400" dirty="0"/>
          </a:p>
          <a:p>
            <a:pPr marL="227965" indent="-227965">
              <a:buNone/>
            </a:pPr>
            <a:r>
              <a:rPr lang="es-MX" sz="1600" b="1" dirty="0">
                <a:latin typeface="Arial"/>
                <a:cs typeface="Arial"/>
              </a:rPr>
              <a:t>Etapa 2 — Diseño (S5–S6)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Sprint 2 (S5–S6): Arquitectura del sistema, modelo de datos (PostgreSQL + MongoDB), documentación técnica</a:t>
            </a:r>
          </a:p>
          <a:p>
            <a:pPr marL="227965" indent="-227965">
              <a:buNone/>
            </a:pPr>
            <a:endParaRPr lang="es-MX" sz="1400" dirty="0"/>
          </a:p>
          <a:p>
            <a:pPr marL="227965" indent="-227965">
              <a:buNone/>
            </a:pPr>
            <a:r>
              <a:rPr lang="es-MX" sz="1600" b="1" dirty="0">
                <a:latin typeface="Arial"/>
                <a:cs typeface="Arial"/>
              </a:rPr>
              <a:t>Etapa 3 — Desarrollo iterativo (S7–S11)  ★ Estado Avance N°2 (S11/S12)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Sprint 3 (S7–S8): Construcción base + integración BD  |  Sprint 4 (S9–S10): Funcionalidades principales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Sprint 5 (S11): Bot IA, notificaciones WebSocket, alertas de stock mínimo, panel del pañolero</a:t>
            </a:r>
          </a:p>
          <a:p>
            <a:pPr marL="227965" indent="-227965">
              <a:buNone/>
            </a:pPr>
            <a:endParaRPr lang="es-MX" sz="1400" dirty="0"/>
          </a:p>
          <a:p>
            <a:pPr marL="227965" indent="-227965">
              <a:buNone/>
            </a:pPr>
            <a:r>
              <a:rPr lang="es-MX" sz="1600" b="1" dirty="0">
                <a:latin typeface="Arial"/>
                <a:cs typeface="Arial"/>
              </a:rPr>
              <a:t>Etapa 4 — Validación (S12–S14)  |  Etapa 5 — Cierre (S15)  ★ Estado Avance N°3 (S15)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Sprint 6 (S12–S13): Pruebas funcionales, integración y concurrencia (JUnit, Postman, Playwright)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Sprint 7 (S14–S15): Ajustes finales, documentación técnica, manual de usuario y cierre</a:t>
            </a:r>
          </a:p>
        </p:txBody>
      </p:sp>
      <p:pic>
        <p:nvPicPr>
          <p:cNvPr id="4" name="Graphic 4" descr="Base de datos y arquitectur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61976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91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B6A3383-EA52-49A0-90FC-44C2425D2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064" y="882539"/>
            <a:ext cx="6621872" cy="5787408"/>
          </a:xfrm>
          <a:prstGeom prst="rect">
            <a:avLst/>
          </a:prstGeom>
        </p:spPr>
      </p:pic>
      <p:sp>
        <p:nvSpPr>
          <p:cNvPr id="6" name="Marcador de texto 1">
            <a:extLst>
              <a:ext uri="{FF2B5EF4-FFF2-40B4-BE49-F238E27FC236}">
                <a16:creationId xmlns:a16="http://schemas.microsoft.com/office/drawing/2014/main" id="{8326BABF-D2F4-4329-9885-34F04F896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12472" y="112552"/>
            <a:ext cx="7731154" cy="698500"/>
          </a:xfrm>
        </p:spPr>
        <p:txBody>
          <a:bodyPr/>
          <a:lstStyle/>
          <a:p>
            <a:pPr marL="227965" indent="-227965"/>
            <a:r>
              <a:rPr lang="es-MX" dirty="0">
                <a:latin typeface="Arial"/>
                <a:cs typeface="Arial"/>
              </a:rPr>
              <a:t>Metodología — Scrum Simplificado</a:t>
            </a:r>
          </a:p>
        </p:txBody>
      </p:sp>
    </p:spTree>
    <p:extLst>
      <p:ext uri="{BB962C8B-B14F-4D97-AF65-F5344CB8AC3E}">
        <p14:creationId xmlns:p14="http://schemas.microsoft.com/office/powerpoint/2010/main" val="1829054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960B22A-F4BB-0C62-8D7A-D366E0DD4F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81000"/>
            <a:ext cx="10414000" cy="698500"/>
          </a:xfrm>
        </p:spPr>
        <p:txBody>
          <a:bodyPr/>
          <a:lstStyle/>
          <a:p>
            <a:pPr marL="227965" indent="-227965"/>
            <a:r>
              <a:rPr lang="es-MX" dirty="0">
                <a:latin typeface="Arial"/>
                <a:cs typeface="Arial"/>
              </a:rPr>
              <a:t>Evidencias del Proyecto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E41A1F-AA2B-861A-714C-AB7D44FAF9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206500"/>
            <a:ext cx="11176000" cy="5207000"/>
          </a:xfrm>
        </p:spPr>
        <p:txBody>
          <a:bodyPr wrap="square">
            <a:noAutofit/>
          </a:bodyPr>
          <a:lstStyle/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E1 — Documento de contexto y definición del proyecto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E2 — Modelo de datos y diseño de arquitectura (Diagrama ER PostgreSQL + MongoDB + arquitectura)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E3 — Épicas e Historias de Usuario con criterios de aceptación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E4 — Mapas de actores, Product Backlog priorizado y roadmap de entregables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E5 — Sprint Backlog y Scrumboard (capturas de planificación y seguimiento por sprint)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E6 — Registro de Impedimentos (identificación y seguimiento de bloqueos del equipo)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E7 — Eventos Clave: Sprint Reviews y Retrospectivas documentadas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E8 — Código fuente: Backend (Java/Spring Boot) + Frontend (React) + Bot IA (Python)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E9 — Sistema funcional desplegado: Docker Compose con todos los módulos implementados</a:t>
            </a:r>
          </a:p>
          <a:p>
            <a:pPr marL="457200" indent="-228600">
              <a:buFont typeface="Arial"/>
              <a:buChar char="•"/>
            </a:pPr>
            <a:r>
              <a:rPr lang="es-MX" sz="1600" dirty="0">
                <a:latin typeface="Arial"/>
                <a:cs typeface="Arial"/>
              </a:rPr>
              <a:t>E10 — Documentación técnica completa y manual de usuario del sistema</a:t>
            </a:r>
          </a:p>
        </p:txBody>
      </p:sp>
    </p:spTree>
    <p:extLst>
      <p:ext uri="{BB962C8B-B14F-4D97-AF65-F5344CB8AC3E}">
        <p14:creationId xmlns:p14="http://schemas.microsoft.com/office/powerpoint/2010/main" val="2219053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1AF30-0E79-F098-06C2-D334DA648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i="1" dirty="0"/>
              <a:t>¡Gracias!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81B73DF-04BE-40F5-A9D3-9C7C92A1C868}"/>
              </a:ext>
            </a:extLst>
          </p:cNvPr>
          <p:cNvSpPr/>
          <p:nvPr/>
        </p:nvSpPr>
        <p:spPr>
          <a:xfrm>
            <a:off x="0" y="2698129"/>
            <a:ext cx="1459345" cy="144655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33E1DFD-BB10-4BBA-8CD6-85B226033B55}"/>
              </a:ext>
            </a:extLst>
          </p:cNvPr>
          <p:cNvSpPr txBox="1"/>
          <p:nvPr/>
        </p:nvSpPr>
        <p:spPr>
          <a:xfrm>
            <a:off x="92363" y="2698129"/>
            <a:ext cx="14428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chemeClr val="bg1"/>
                </a:solidFill>
              </a:rPr>
              <a:t>06</a:t>
            </a:r>
            <a:endParaRPr lang="es-PE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5491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AE21F5-D7CC-4468-826D-365C2AF84B2C}">
  <we:reference id="wa200010001" version="1.0.0.1" store="es-MX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28BDBD65D93F4BA99B6439AFEA320E" ma:contentTypeVersion="10" ma:contentTypeDescription="Crear nuevo documento." ma:contentTypeScope="" ma:versionID="11d45d99e0339591c68aad091688ac92">
  <xsd:schema xmlns:xsd="http://www.w3.org/2001/XMLSchema" xmlns:xs="http://www.w3.org/2001/XMLSchema" xmlns:p="http://schemas.microsoft.com/office/2006/metadata/properties" xmlns:ns2="9b0ef35d-78e7-41bf-847f-3c0497ad5352" xmlns:ns3="3c969135-7855-44e0-a9fe-01d799f07605" targetNamespace="http://schemas.microsoft.com/office/2006/metadata/properties" ma:root="true" ma:fieldsID="0e603a3f7bf67670d682b80385fe4b00" ns2:_="" ns3:_="">
    <xsd:import namespace="9b0ef35d-78e7-41bf-847f-3c0497ad5352"/>
    <xsd:import namespace="3c969135-7855-44e0-a9fe-01d799f076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ef35d-78e7-41bf-847f-3c0497ad53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69135-7855-44e0-a9fe-01d799f0760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c969135-7855-44e0-a9fe-01d799f07605">
      <UserInfo>
        <DisplayName>Patricio alejandro Yanez Ahumada</DisplayName>
        <AccountId>12</AccountId>
        <AccountType/>
      </UserInfo>
      <UserInfo>
        <DisplayName>Victoria Acevedo D</DisplayName>
        <AccountId>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B4635AD-4573-49F2-BAD3-1FD3B2C9C4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ef35d-78e7-41bf-847f-3c0497ad5352"/>
    <ds:schemaRef ds:uri="3c969135-7855-44e0-a9fe-01d799f076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BD4256-76F8-4EE6-AF14-F39F3CD068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58CA3E-C0DA-46ED-9440-7D10196C7762}">
  <ds:schemaRefs>
    <ds:schemaRef ds:uri="http://schemas.microsoft.com/office/2006/metadata/properties"/>
    <ds:schemaRef ds:uri="9b0ef35d-78e7-41bf-847f-3c0497ad5352"/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3c969135-7855-44e0-a9fe-01d799f07605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8860</TotalTime>
  <Words>1342</Words>
  <Application>Microsoft Office PowerPoint</Application>
  <PresentationFormat>Panorámica</PresentationFormat>
  <Paragraphs>151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de Office</vt:lpstr>
      <vt:lpstr>Sistema Pañol Salud</vt:lpstr>
      <vt:lpstr>Presentación de PowerPoint</vt:lpstr>
      <vt:lpstr>Presentación de PowerPoint</vt:lpstr>
      <vt:lpstr>01. Descripción y Contexto del Proyecto</vt:lpstr>
      <vt:lpstr>Presentación de PowerPoint</vt:lpstr>
      <vt:lpstr>02. Problemática y Objetivos</vt:lpstr>
      <vt:lpstr>Presentación de PowerPoint</vt:lpstr>
      <vt:lpstr>Presentación de PowerPoint</vt:lpstr>
      <vt:lpstr>Presentación de PowerPoint</vt:lpstr>
      <vt:lpstr>03. Metodología — Scrum Simplificado</vt:lpstr>
      <vt:lpstr>Presentación de PowerPoint</vt:lpstr>
      <vt:lpstr>Presentación de PowerPoint</vt:lpstr>
      <vt:lpstr>04. Tecnología y Arquitectura</vt:lpstr>
      <vt:lpstr>Presentación de PowerPoint</vt:lpstr>
      <vt:lpstr>Presentación de PowerPoint</vt:lpstr>
      <vt:lpstr>05. Plan de Trabajo</vt:lpstr>
      <vt:lpstr>Presentación de PowerPoint</vt:lpstr>
      <vt:lpstr>Presentación de PowerPoint</vt:lpstr>
      <vt:lpstr>Presentación de PowerPoint</vt:lpstr>
      <vt:lpstr>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Osorio C.</dc:creator>
  <cp:lastModifiedBy>CESAR AUGUSTO ROJAS RAMOS</cp:lastModifiedBy>
  <cp:revision>23</cp:revision>
  <dcterms:created xsi:type="dcterms:W3CDTF">2024-03-07T18:55:37Z</dcterms:created>
  <dcterms:modified xsi:type="dcterms:W3CDTF">2026-03-30T17:18:33Z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